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70" r:id="rId5"/>
    <p:sldId id="271" r:id="rId6"/>
    <p:sldId id="259" r:id="rId7"/>
    <p:sldId id="260" r:id="rId8"/>
    <p:sldId id="263" r:id="rId9"/>
    <p:sldId id="264" r:id="rId10"/>
    <p:sldId id="272" r:id="rId11"/>
    <p:sldId id="273" r:id="rId12"/>
    <p:sldId id="265" r:id="rId13"/>
    <p:sldId id="267" r:id="rId14"/>
    <p:sldId id="261" r:id="rId1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0DB95-12C2-4B36-87AD-364F2FE8885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0DB95-12C2-4B36-87AD-364F2FE8885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0DB95-12C2-4B36-87AD-364F2FE8885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0DB95-12C2-4B36-87AD-364F2FE8885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0DB95-12C2-4B36-87AD-364F2FE8885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/>
          <p:nvPr/>
        </p:nvSpPr>
        <p:spPr>
          <a:xfrm>
            <a:off x="1717039" y="1773761"/>
            <a:ext cx="8420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600"/>
              <a:buFont typeface="Arial Black" panose="020B0A04020102020204"/>
              <a:buNone/>
            </a:pPr>
            <a:endParaRPr sz="3600" b="1" i="0" u="none" strike="noStrike" cap="none">
              <a:solidFill>
                <a:srgbClr val="833C0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17200" y="2488575"/>
            <a:ext cx="11399100" cy="17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SMART AI BASED DEGRADATION CONVERTER CONTROL FOR EV 					BATTERY CHARGING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lang="en-GB" altLang="en-US"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0" y="6488668"/>
            <a:ext cx="12192000" cy="369300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KIT-Electrical and Electronics Engineering</a:t>
            </a: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0" y="0"/>
            <a:ext cx="12192000" cy="9987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340708" y="-73615"/>
            <a:ext cx="93444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</a:t>
            </a:r>
            <a:r>
              <a:rPr lang="en-US" sz="1800" dirty="0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800" b="1" dirty="0">
                <a:solidFill>
                  <a:srgbClr val="E0343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KIT-KALAIGNARKARUNANIDHI INSTITUTE OF TECHNOLOGY    </a:t>
            </a:r>
            <a:endParaRPr sz="1800" b="1" dirty="0">
              <a:solidFill>
                <a:srgbClr val="E0343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0343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COIMBATORE - 641402                 </a:t>
            </a:r>
            <a:endParaRPr sz="1800" dirty="0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62380" marR="0" lvl="0" indent="0" algn="ctr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endParaRPr sz="1800" b="1" dirty="0">
              <a:solidFill>
                <a:srgbClr val="3734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62380" marR="0" lvl="0" indent="0" algn="ctr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734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Approved by AICTE Affiliated to Anna University, Chennai Accredited With ‘A’ Grade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6365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734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  NAAC &amp;  by NBA</a:t>
            </a:r>
            <a:endParaRPr sz="1800" b="1" dirty="0">
              <a:solidFill>
                <a:srgbClr val="3734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6365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6029C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DEPARTMENT OF ELECTRICAL  AND ELECTRONICS ENGINEERING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"/>
          <p:cNvPicPr preferRelativeResize="0"/>
          <p:nvPr/>
        </p:nvPicPr>
        <p:blipFill rotWithShape="1">
          <a:blip r:embed="rId4"/>
          <a:srcRect t="15421" b="21634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/>
        </p:nvSpPr>
        <p:spPr>
          <a:xfrm>
            <a:off x="8290098" y="4413380"/>
            <a:ext cx="2792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SUPERVISOR:</a:t>
            </a:r>
            <a:endParaRPr sz="1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r>
              <a:rPr lang="en-IN" dirty="0"/>
              <a:t>DR.M.P.MOHANDASS</a:t>
            </a:r>
          </a:p>
          <a:p>
            <a:r>
              <a:rPr lang="en-IN" dirty="0"/>
              <a:t>ASSOCIATE PROFESSOR/EEE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109447" y="4413379"/>
            <a:ext cx="42165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TEAM MEMBERS:</a:t>
            </a:r>
            <a:endParaRPr sz="1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algn="r"/>
            <a:r>
              <a:rPr lang="en-IN" dirty="0"/>
              <a:t>KANISH R   -   711523BEE026</a:t>
            </a:r>
          </a:p>
          <a:p>
            <a:pPr algn="r"/>
            <a:r>
              <a:rPr lang="en-IN" dirty="0"/>
              <a:t>                 DINESH A   -   711523BEE013</a:t>
            </a:r>
          </a:p>
          <a:p>
            <a:pPr algn="r"/>
            <a:r>
              <a:rPr lang="en-IN" dirty="0"/>
              <a:t>       JOYAL GOODWIN S   -   711523BEE024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4" name="Text Box 27"/>
          <p:cNvSpPr txBox="1"/>
          <p:nvPr/>
        </p:nvSpPr>
        <p:spPr>
          <a:xfrm>
            <a:off x="1240543" y="0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ABSTRACT</a:t>
            </a:r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67435" y="1773761"/>
            <a:ext cx="9890760" cy="4305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285750" indent="-285750" algn="just"/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degradation of EV batteries is usually higher when fast-charging methods are used consistently over time.</a:t>
            </a:r>
          </a:p>
          <a:p>
            <a:pPr marL="285750" indent="-285750" algn="just"/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Most charging systems overlook the battery's aging, which leads to thermal stress, rising temperatures, and a shorter expected </a:t>
            </a:r>
            <a:r>
              <a:rPr lang="en-IN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lifespane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/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we  introduces a smart AI-assisted charging system that adjusts the charging method based on the battery's health in real-time.</a:t>
            </a:r>
          </a:p>
          <a:p>
            <a:pPr marL="285750" indent="-285750" algn="just"/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Aging batteries switch to a slower and safer charging mode, which lessens stress and thermal effects. </a:t>
            </a:r>
          </a:p>
          <a:p>
            <a:pPr marL="285750" indent="-285750" algn="just"/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simple LED indication system makes this setup easy to use. A green LED lights up when the battery is in good condition, while a red LED shows that the battery is old or degraded and needs slow charging to extend its life and ensure safety. 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8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4" name="Text Box 27"/>
          <p:cNvSpPr txBox="1"/>
          <p:nvPr/>
        </p:nvSpPr>
        <p:spPr>
          <a:xfrm>
            <a:off x="1195159" y="62489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INTRODUCTION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21944" y="1345448"/>
            <a:ext cx="9890760" cy="4453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742950" lvl="1" indent="-28575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(EV) batteries lose their performance faster when they are charged using the same fast-charging method throughout their life.</a:t>
            </a:r>
          </a:p>
          <a:p>
            <a:pPr marL="742950" lvl="1" indent="-28575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battery charging systems do not consider the battery aging condition, which leads to high temperature, extra stress, and shorter battery life.</a:t>
            </a:r>
          </a:p>
          <a:p>
            <a:pPr marL="742950" lvl="1" indent="-28575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measures battery voltage, charging current, and battery temperature. An AI model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data to identify the battery degradation level. </a:t>
            </a:r>
          </a:p>
          <a:p>
            <a:pPr marL="742950" lvl="1" indent="-28575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AI output, the converter controller automatically selects fast charging for healthy batteries and slow, safe charging for aged batteries.</a:t>
            </a:r>
          </a:p>
          <a:p>
            <a:pPr marL="742950" lvl="1" indent="-28575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helps reduce battery heating, lower charging stress, and extend battery lifetime compared to conventional charging systems.</a:t>
            </a:r>
          </a:p>
        </p:txBody>
      </p:sp>
      <p:sp>
        <p:nvSpPr>
          <p:cNvPr id="8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8" name="Text Box 27"/>
          <p:cNvSpPr txBox="1"/>
          <p:nvPr/>
        </p:nvSpPr>
        <p:spPr>
          <a:xfrm>
            <a:off x="1340708" y="-73615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+mn-ea"/>
                <a:cs typeface="+mn-ea"/>
                <a:sym typeface="+mn-ea"/>
              </a:rPr>
              <a:t>       </a:t>
            </a:r>
            <a:r>
              <a:rPr lang="en-US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sz="40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Objective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40873" y="2459504"/>
            <a:ext cx="98904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battery voltage, current, and temperature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battery degradation using health indicators.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switch between fast and slow charging modes.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thermal stress during charging.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user-friendly LED-based battery health indication.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8" name="Text Box 27"/>
          <p:cNvSpPr txBox="1"/>
          <p:nvPr/>
        </p:nvSpPr>
        <p:spPr>
          <a:xfrm>
            <a:off x="1340708" y="-73615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+mn-ea"/>
                <a:cs typeface="+mn-ea"/>
                <a:sym typeface="+mn-ea"/>
              </a:rPr>
              <a:t>       </a:t>
            </a:r>
            <a:r>
              <a:rPr lang="en-US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GB" alt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EXISTING SYSTEM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0708" y="2231401"/>
            <a:ext cx="9890760" cy="24779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EV charging system mainly uses a fixed charging method without considering the battery’s actual condition.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may lead to overheating, faster battery aging, and reduced efficiency.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adaptive charging mechanisms.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 Lower due to stress and overcharging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6884DE-717C-1440-FC1D-0DA8E337A24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34614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5940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335E7E-B4F1-B640-6616-D7F7124DC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3329"/>
              </p:ext>
            </p:extLst>
          </p:nvPr>
        </p:nvGraphicFramePr>
        <p:xfrm>
          <a:off x="1676400" y="2942869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61962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0794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8239EA-BF45-6A28-6C2F-F576B3069CD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27006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3650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488644-8CF6-5F7A-98A4-773E3254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66357"/>
              </p:ext>
            </p:extLst>
          </p:nvPr>
        </p:nvGraphicFramePr>
        <p:xfrm>
          <a:off x="838200" y="3818414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70740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9627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4" name="Text Box 27"/>
          <p:cNvSpPr txBox="1"/>
          <p:nvPr/>
        </p:nvSpPr>
        <p:spPr>
          <a:xfrm>
            <a:off x="1026076" y="-131036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+mn-ea"/>
                <a:cs typeface="+mn-ea"/>
                <a:sym typeface="+mn-ea"/>
              </a:rPr>
              <a:t>       </a:t>
            </a:r>
            <a:r>
              <a:rPr lang="en-US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sz="40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Literature Survey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421026"/>
              </p:ext>
            </p:extLst>
          </p:nvPr>
        </p:nvGraphicFramePr>
        <p:xfrm>
          <a:off x="838270" y="1072286"/>
          <a:ext cx="10423780" cy="52681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94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30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29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/>
                        <a:t>Early prediction of lithium-ion battery degradation with a generative pre-trained transformer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Sattarzadeh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Shanthan K.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Padisala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Ying Shi, Partha P. Mishra, Kandler Smith,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Satadru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Dey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closed-loop feedback control system using electro-thermal battery aging models. Applied optimal control theory to adjust charging current based on degradation state.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health-adaptive fast charging strategy that reduces aging while maintaining performance. Demonstrated improved battery safety and lifetime compared to fixed charging.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387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b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Safe Reinforcement Learning-Enabled Optimization of Battery Fast-Charging Protocols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Myisha A. Chowdhury, Saif S. S. Al-Wahaibi, Qiugang Lu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reinforcement learning with safety constraints to dynamically optimize charging current. The model learns battery behavior and adapts charging to minimize degradation.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AI-based adaptive charging can safely reduce charging time while limiting battery aging and thermal stress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4" name="Text Box 27"/>
          <p:cNvSpPr txBox="1"/>
          <p:nvPr/>
        </p:nvSpPr>
        <p:spPr>
          <a:xfrm>
            <a:off x="1340708" y="-73615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+mn-ea"/>
                <a:cs typeface="+mn-ea"/>
                <a:sym typeface="+mn-ea"/>
              </a:rPr>
              <a:t>       </a:t>
            </a:r>
            <a:r>
              <a:rPr lang="en-US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sz="40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Literature Survey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086254"/>
              </p:ext>
            </p:extLst>
          </p:nvPr>
        </p:nvGraphicFramePr>
        <p:xfrm>
          <a:off x="838270" y="1072286"/>
          <a:ext cx="10423780" cy="52681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84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6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30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29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/>
                        <a:t>EV battery charging system via reconfigurable boost converter with solar PV and grid.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fi-FI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M.A. Eissa, P. Chen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an aging-aware charging framework that adjusts depth-of-discharge and charging thresholds based on battery health modeling.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considering battery aging during charging significantly improves cycle life and overall efficiency.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387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/>
                        <a:t>Degradation path prediction of lithium-ion batteries under dynamic operating sequences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sv-SE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Radhika Swarnkar, Harikrishnan Ramachandran, et al.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machine learning models such as neural networks and regression algorithms for SOH estimation using voltage and current datasets.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Highlighted the importance of accurate health estimation as the foundation for intelligent charging and battery management systems.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9725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8" cy="998671"/>
          </a:xfrm>
          <a:prstGeom prst="rect">
            <a:avLst/>
          </a:prstGeom>
        </p:spPr>
      </p:pic>
      <p:sp>
        <p:nvSpPr>
          <p:cNvPr id="9" name="Text Box 27"/>
          <p:cNvSpPr txBox="1"/>
          <p:nvPr/>
        </p:nvSpPr>
        <p:spPr>
          <a:xfrm>
            <a:off x="1240543" y="0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PROPOSED SYSTEM</a:t>
            </a:r>
            <a:endParaRPr lang="en-US" dirty="0"/>
          </a:p>
        </p:txBody>
      </p:sp>
      <p:sp>
        <p:nvSpPr>
          <p:cNvPr id="10" name="Rectangle 1"/>
          <p:cNvSpPr txBox="1">
            <a:spLocks noChangeArrowheads="1"/>
          </p:cNvSpPr>
          <p:nvPr/>
        </p:nvSpPr>
        <p:spPr bwMode="auto">
          <a:xfrm>
            <a:off x="1067493" y="1630045"/>
            <a:ext cx="9890760" cy="323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ESP32, sensors, and AI logic to continuously monitor battery voltage, current, and temperature.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battery health, it automatically changes charging speed. Healthy batteries receive faster charging, while aged batteries receive slower and safer charging.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heat generation, improves safety, and increases battery life.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8" cy="998671"/>
          </a:xfrm>
          <a:prstGeom prst="rect">
            <a:avLst/>
          </a:prstGeom>
        </p:spPr>
      </p:pic>
      <p:sp>
        <p:nvSpPr>
          <p:cNvPr id="12" name="Text Box 27"/>
          <p:cNvSpPr txBox="1"/>
          <p:nvPr/>
        </p:nvSpPr>
        <p:spPr>
          <a:xfrm>
            <a:off x="1240543" y="0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GB" alt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BLOCK DIAGRAM</a:t>
            </a:r>
          </a:p>
        </p:txBody>
      </p:sp>
      <p:sp>
        <p:nvSpPr>
          <p:cNvPr id="14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FA6A65A-8149-5B94-F343-40954002E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40" y="1109570"/>
            <a:ext cx="10546080" cy="5157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9840"/>
            <a:ext cx="10515600" cy="5228827"/>
          </a:xfrm>
        </p:spPr>
        <p:txBody>
          <a:bodyPr>
            <a:normAutofit fontScale="97500"/>
          </a:bodyPr>
          <a:lstStyle/>
          <a:p>
            <a:pPr marL="27305" marR="6350" algn="just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These formulas are used for battery monitoring, AI input parameters, and converter control.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375"/>
              </a:lnSpc>
            </a:pP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Battery State</a:t>
            </a:r>
            <a:r>
              <a:rPr lang="en-US" sz="2000" b="1" kern="0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Health</a:t>
            </a:r>
            <a:r>
              <a:rPr lang="en-US" sz="2000" b="1" kern="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000" b="1" kern="0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SoH</a:t>
            </a:r>
            <a:r>
              <a:rPr lang="en-US" sz="20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 marL="0" indent="0">
              <a:lnSpc>
                <a:spcPts val="1375"/>
              </a:lnSpc>
              <a:buNone/>
            </a:pPr>
            <a:endParaRPr lang="en-IN" sz="2000" b="1" kern="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1375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SOH</a:t>
            </a:r>
            <a:r>
              <a:rPr lang="en-US" sz="20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C_current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C_rated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× </a:t>
            </a:r>
            <a:r>
              <a:rPr lang="en-US" sz="2000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100 </a:t>
            </a:r>
            <a:r>
              <a:rPr lang="en-US" sz="2000" spc="-25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1375"/>
              </a:lnSpc>
              <a:buNone/>
            </a:pP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Where: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299720" indent="0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C_current</a:t>
            </a:r>
            <a:r>
              <a:rPr lang="en-US" sz="2000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000" spc="-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en-US" sz="2000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battery</a:t>
            </a:r>
            <a:r>
              <a:rPr lang="en-US" sz="2000" spc="-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capacity </a:t>
            </a:r>
          </a:p>
          <a:p>
            <a:pPr marL="0" marR="299720" indent="0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C_rated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Original battery capacity.</a:t>
            </a:r>
          </a:p>
          <a:p>
            <a:pPr marL="0" marR="299720" indent="0">
              <a:lnSpc>
                <a:spcPct val="102000"/>
              </a:lnSpc>
              <a:spcAft>
                <a:spcPts val="0"/>
              </a:spcAft>
              <a:buNone/>
            </a:pP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375"/>
              </a:lnSpc>
              <a:spcBef>
                <a:spcPts val="390"/>
              </a:spcBef>
            </a:pP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r>
              <a:rPr lang="en-US" sz="2000" b="1" kern="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Rise</a:t>
            </a:r>
            <a:r>
              <a:rPr lang="en-US" sz="2000" b="1" kern="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kern="0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Battery:</a:t>
            </a:r>
          </a:p>
          <a:p>
            <a:pPr marL="0" indent="0">
              <a:lnSpc>
                <a:spcPts val="1375"/>
              </a:lnSpc>
              <a:spcBef>
                <a:spcPts val="390"/>
              </a:spcBef>
              <a:spcAft>
                <a:spcPts val="0"/>
              </a:spcAft>
              <a:buNone/>
            </a:pPr>
            <a:endParaRPr lang="en-IN" sz="2000" b="1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1375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I*I)*R*t  </a:t>
            </a:r>
            <a:r>
              <a:rPr lang="en-US" sz="2000" spc="-20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(2)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Where: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895475" indent="0"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000" spc="-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000" spc="-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Heat</a:t>
            </a:r>
            <a:r>
              <a:rPr lang="en-US" sz="2000" spc="-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generated I = Current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720850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spc="-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000" spc="-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Internal</a:t>
            </a:r>
            <a:r>
              <a:rPr lang="en-US" sz="2000" spc="-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resistance t = Time</a:t>
            </a: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440873" y="1773761"/>
            <a:ext cx="9144000" cy="631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600" dirty="0">
              <a:latin typeface="+mn-ea"/>
              <a:cs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 AND CALCULATIONS</a:t>
            </a:r>
            <a:endParaRPr lang="en-IN" sz="2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8" cy="998671"/>
          </a:xfrm>
          <a:prstGeom prst="rect">
            <a:avLst/>
          </a:prstGeom>
        </p:spPr>
      </p:pic>
      <p:sp>
        <p:nvSpPr>
          <p:cNvPr id="14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>
          <a:xfrm>
            <a:off x="5961661" y="2518556"/>
            <a:ext cx="5730240" cy="26720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The Red line indicates,</a:t>
            </a:r>
          </a:p>
          <a:p>
            <a:pPr algn="just"/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Degradation increases rapidly.</a:t>
            </a: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At 100 charging cycles, degradation reaches approximately 3.8 units. </a:t>
            </a: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Indicates higher thermal stress and faster battery aging.</a:t>
            </a:r>
          </a:p>
          <a:p>
            <a:pPr algn="just"/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The Blue line indicates ,</a:t>
            </a:r>
          </a:p>
          <a:p>
            <a:pPr algn="just"/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Degradation increases much more slowly. </a:t>
            </a: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At 100 charging cycles, degradation is only about 1.3 units. </a:t>
            </a:r>
          </a:p>
          <a:p>
            <a:pPr algn="just"/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Battery remains healthier for a longer period.</a:t>
            </a: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8" cy="998671"/>
          </a:xfrm>
          <a:prstGeom prst="rect">
            <a:avLst/>
          </a:prstGeom>
        </p:spPr>
      </p:pic>
      <p:sp>
        <p:nvSpPr>
          <p:cNvPr id="12" name="Text Box 27"/>
          <p:cNvSpPr txBox="1"/>
          <p:nvPr/>
        </p:nvSpPr>
        <p:spPr>
          <a:xfrm>
            <a:off x="1240543" y="0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GB" alt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RESULT</a:t>
            </a:r>
          </a:p>
        </p:txBody>
      </p:sp>
      <p:sp>
        <p:nvSpPr>
          <p:cNvPr id="14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56E9D1-1AE4-C572-C99A-9C01E4110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79" y="1676400"/>
            <a:ext cx="4888806" cy="3820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8" cy="998671"/>
          </a:xfrm>
          <a:prstGeom prst="rect">
            <a:avLst/>
          </a:prstGeom>
        </p:spPr>
      </p:pic>
      <p:sp>
        <p:nvSpPr>
          <p:cNvPr id="12" name="Text Box 27"/>
          <p:cNvSpPr txBox="1"/>
          <p:nvPr/>
        </p:nvSpPr>
        <p:spPr>
          <a:xfrm>
            <a:off x="1240543" y="0"/>
            <a:ext cx="9344330" cy="1220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GB" altLang="en-US" sz="2800" dirty="0">
                <a:solidFill>
                  <a:srgbClr val="0070C0"/>
                </a:solidFill>
                <a:latin typeface="+mn-ea"/>
                <a:cs typeface="+mn-ea"/>
                <a:sym typeface="+mn-ea"/>
              </a:rPr>
              <a:t>CONCLUSION</a:t>
            </a:r>
          </a:p>
        </p:txBody>
      </p:sp>
      <p:sp>
        <p:nvSpPr>
          <p:cNvPr id="14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350010" y="1767006"/>
            <a:ext cx="94919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AI, there is health-based adaptive monitoring and charging to ensure safer battery life with less degradation for longer life, and also a simple LED indication for better interaction.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practical, efficient intelligent solution for next generation EV charging.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results demonstrate enhanced thermal management, efficiency and longevity over conventional EV charging methods by utilizing AI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990" y="1568000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Hu, Jincheng,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Pengyu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Zhongbao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Wei, Yanjun Huang, Juliana Early, Ashley Fly,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Yuanjian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Zhang. "Early prediction of lithium-ion battery degradation with a generative pre-trained transformer." Nature Communications (2025).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Youness, Hakam,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Mohamed, Gaga Ahmed,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Ahessab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Hajar, and EL Hadadi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Benachir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</a:t>
            </a:r>
            <a:r>
              <a:rPr lang="en-US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Adaptive Safe Reinforcement Learning-Enabled Optimization of Battery Fast-Charging Protocols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In 2024 International Conference on Microelectronics (ICM), pp. 1-5. IEEE, 2024.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3] Priya, Kumari, Rajesh Gupta, and Manas Kumar. "EV battery charging system via reconfigurable boost converter with solar PV and grid." In 2023 11th National Power Electronics Conference (NPEC), pp. 1-6. IEEE, 2023.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Kim,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Inwoo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Hyunjae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Seongha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An, Jihoon Oh, Minsoo Kim, and Jang Wook Choi. "Degradation path prediction of lithium-ion batteries under dynamic operating sequences." Energy &amp; Environmental Science 18, no. 8 (2025): 3784-3794.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REFERENCE</a:t>
            </a:r>
            <a:endParaRPr lang="en-IN" sz="2800" dirty="0">
              <a:solidFill>
                <a:schemeClr val="accent5"/>
              </a:solidFill>
            </a:endParaRPr>
          </a:p>
        </p:txBody>
      </p:sp>
      <p:pic>
        <p:nvPicPr>
          <p:cNvPr id="5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7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34987" y="2767280"/>
            <a:ext cx="53557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  <a:endParaRPr lang="en-IN" sz="8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986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5158" cy="998671"/>
          </a:xfrm>
          <a:prstGeom prst="rect">
            <a:avLst/>
          </a:prstGeom>
        </p:spPr>
      </p:pic>
      <p:sp>
        <p:nvSpPr>
          <p:cNvPr id="7" name="Text Box 2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KIT-Electrical and Electronics Engineering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2" b="21632"/>
          <a:stretch>
            <a:fillRect/>
          </a:stretch>
        </p:blipFill>
        <p:spPr>
          <a:xfrm>
            <a:off x="11085633" y="0"/>
            <a:ext cx="1106366" cy="9986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1248</Words>
  <Application>Microsoft Office PowerPoint</Application>
  <PresentationFormat>Widescreen</PresentationFormat>
  <Paragraphs>143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Kanish.R</dc:creator>
  <cp:lastModifiedBy>Kanish0261@outlook.com</cp:lastModifiedBy>
  <cp:revision>17</cp:revision>
  <dcterms:created xsi:type="dcterms:W3CDTF">2026-02-09T06:19:00Z</dcterms:created>
  <dcterms:modified xsi:type="dcterms:W3CDTF">2026-06-11T10:11:34Z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19C6AE919ECB4C8582C19B6B5ADDEA96_13</vt:lpwstr>
  </property>
  <property fmtid="{D5CDD505-2E9C-101B-9397-08002B2CF9AE}" pid="3" name="KSOProductBuildVer">
    <vt:lpwstr>1033-12.1.0.25242</vt:lpwstr>
  </property>
</Properties>
</file>